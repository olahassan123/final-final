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30276000" cy="21384000" type="custom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ster Background"/>
          <p:cNvSpPr/>
          <p:nvPr/>
        </p:nvSpPr>
        <p:spPr>
          <a:xfrm>
            <a:off x="0" y="0"/>
            <a:ext cx="30276000" cy="2138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30276000" cy="298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4" name="Header Rule Blue"/>
          <p:cNvSpPr/>
          <p:nvPr/>
        </p:nvSpPr>
        <p:spPr>
          <a:xfrm>
            <a:off x="0" y="2916000"/>
            <a:ext cx="30276000" cy="50400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5" name="Header Rule Turquoise"/>
          <p:cNvSpPr/>
          <p:nvPr/>
        </p:nvSpPr>
        <p:spPr>
          <a:xfrm>
            <a:off x="0" y="2966400"/>
            <a:ext cx="30276000" cy="4320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6" name="Main Title"/>
          <p:cNvSpPr/>
          <p:nvPr/>
        </p:nvSpPr>
        <p:spPr>
          <a:xfrm>
            <a:off x="720000" y="360000"/>
            <a:ext cx="19080000" cy="864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3900" b="1">
                <a:solidFill>
                  <a:srgbClr val="173B67"/>
                </a:solidFill>
                <a:latin typeface="Aptos"/>
                <a:cs typeface="Aptos"/>
              </a:rPr>
              <a:t>MeDay Smart Platform</a:t>
            </a:r>
            <a:endParaRPr lang="en-US" sz="3900"/>
          </a:p>
        </p:txBody>
      </p:sp>
      <p:sp>
        <p:nvSpPr>
          <p:cNvPr id="7" name="Subtitle"/>
          <p:cNvSpPr/>
          <p:nvPr/>
        </p:nvSpPr>
        <p:spPr>
          <a:xfrm>
            <a:off x="738000" y="1296000"/>
            <a:ext cx="1854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700">
                <a:solidFill>
                  <a:srgbClr val="637083"/>
                </a:solidFill>
                <a:latin typeface="Aptos"/>
                <a:cs typeface="Aptos"/>
              </a:rPr>
              <a:t>AI-powered beauty clinic management and personalized client care</a:t>
            </a:r>
            <a:endParaRPr lang="en-US" sz="1700"/>
          </a:p>
        </p:txBody>
      </p:sp>
      <p:sp>
        <p:nvSpPr>
          <p:cNvPr id="8" name="Team Members"/>
          <p:cNvSpPr/>
          <p:nvPr/>
        </p:nvSpPr>
        <p:spPr>
          <a:xfrm>
            <a:off x="738000" y="1872000"/>
            <a:ext cx="14400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500" b="1">
                <a:solidFill>
                  <a:srgbClr val="233142"/>
                </a:solidFill>
                <a:latin typeface="Aptos"/>
                <a:cs typeface="Aptos"/>
              </a:rPr>
              <a:t>Team Members: [ADD NAMES]</a:t>
            </a:r>
            <a:endParaRPr lang="en-US" sz="1500"/>
          </a:p>
        </p:txBody>
      </p:sp>
      <p:sp>
        <p:nvSpPr>
          <p:cNvPr id="9" name="University Placeholder"/>
          <p:cNvSpPr/>
          <p:nvPr/>
        </p:nvSpPr>
        <p:spPr>
          <a:xfrm>
            <a:off x="23184000" y="396000"/>
            <a:ext cx="6264000" cy="2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7"/>
            </a:solidFill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200" b="1">
                <a:solidFill>
                  <a:srgbClr val="173B67"/>
                </a:solidFill>
                <a:latin typeface="Aptos"/>
                <a:cs typeface="Aptos"/>
              </a:rPr>
              <a:t>University / Department</a:t>
            </a:r>
            <a:endParaRPr lang="en-US" sz="1200"/>
          </a:p>
          <a:p>
            <a:pPr algn="ctr"/>
            <a:r>
              <a:rPr lang="en-US" sz="1200">
                <a:solidFill>
                  <a:srgbClr val="173B67"/>
                </a:solidFill>
                <a:latin typeface="Aptos"/>
                <a:cs typeface="Aptos"/>
              </a:rPr>
              <a:t>Graduation Project Poster</a:t>
            </a:r>
            <a:endParaRPr lang="en-US" sz="1200"/>
          </a:p>
          <a:p>
            <a:pPr algn="ctr"/>
            <a:r>
              <a:rPr lang="en-US" sz="1200">
                <a:solidFill>
                  <a:srgbClr val="173B67"/>
                </a:solidFill>
                <a:latin typeface="Aptos"/>
                <a:cs typeface="Aptos"/>
              </a:rPr>
              <a:t>Academic Year 2026</a:t>
            </a:r>
            <a:endParaRPr lang="en-US" sz="1200"/>
          </a:p>
        </p:txBody>
      </p:sp>
      <p:sp>
        <p:nvSpPr>
          <p:cNvPr id="10" name="Pill - Medical Beauty"/>
          <p:cNvSpPr/>
          <p:nvPr/>
        </p:nvSpPr>
        <p:spPr>
          <a:xfrm>
            <a:off x="18648000" y="1998000"/>
            <a:ext cx="2628000" cy="414000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Medical Beauty</a:t>
            </a:r>
            <a:endParaRPr lang="en-US" sz="1500"/>
          </a:p>
        </p:txBody>
      </p:sp>
      <p:sp>
        <p:nvSpPr>
          <p:cNvPr id="11" name="Pill - AI Platform"/>
          <p:cNvSpPr/>
          <p:nvPr/>
        </p:nvSpPr>
        <p:spPr>
          <a:xfrm>
            <a:off x="21600000" y="1998000"/>
            <a:ext cx="2304000" cy="414000"/>
          </a:xfrm>
          <a:prstGeom prst="roundRect">
            <a:avLst/>
          </a:prstGeom>
          <a:solidFill>
            <a:srgbClr val="8B7DDA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AI Platform</a:t>
            </a:r>
            <a:endParaRPr lang="en-US" sz="1500"/>
          </a:p>
        </p:txBody>
      </p:sp>
      <p:sp>
        <p:nvSpPr>
          <p:cNvPr id="12" name="Pill - Responsive UI"/>
          <p:cNvSpPr/>
          <p:nvPr/>
        </p:nvSpPr>
        <p:spPr>
          <a:xfrm>
            <a:off x="24192000" y="1998000"/>
            <a:ext cx="2592000" cy="414000"/>
          </a:xfrm>
          <a:prstGeom prst="roundRect">
            <a:avLst/>
          </a:prstGeom>
          <a:solidFill>
            <a:srgbClr val="173B67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Responsive UI</a:t>
            </a:r>
            <a:endParaRPr lang="en-US" sz="1500"/>
          </a:p>
        </p:txBody>
      </p:sp>
      <p:sp>
        <p:nvSpPr>
          <p:cNvPr id="13" name="Section Card - Project Overview"/>
          <p:cNvSpPr/>
          <p:nvPr/>
        </p:nvSpPr>
        <p:spPr>
          <a:xfrm>
            <a:off x="558000" y="3312000"/>
            <a:ext cx="9478800" cy="36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7F7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14" name="Section Accent - Project Overview"/>
          <p:cNvSpPr/>
          <p:nvPr/>
        </p:nvSpPr>
        <p:spPr>
          <a:xfrm>
            <a:off x="558000" y="3312000"/>
            <a:ext cx="100800" cy="360000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15" name="Icon - 01"/>
          <p:cNvSpPr/>
          <p:nvPr/>
        </p:nvSpPr>
        <p:spPr>
          <a:xfrm>
            <a:off x="817200" y="3520800"/>
            <a:ext cx="522000" cy="522000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01</a:t>
            </a:r>
            <a:endParaRPr lang="en-US" sz="1800"/>
          </a:p>
        </p:txBody>
      </p:sp>
      <p:sp>
        <p:nvSpPr>
          <p:cNvPr id="16" name="Section Title - Project Overview"/>
          <p:cNvSpPr/>
          <p:nvPr/>
        </p:nvSpPr>
        <p:spPr>
          <a:xfrm>
            <a:off x="1440000" y="3510000"/>
            <a:ext cx="83988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700" b="1">
                <a:solidFill>
                  <a:srgbClr val="173B67"/>
                </a:solidFill>
                <a:latin typeface="Aptos"/>
                <a:cs typeface="Aptos"/>
              </a:rPr>
              <a:t>Project Overview</a:t>
            </a:r>
            <a:endParaRPr lang="en-US" sz="1700"/>
          </a:p>
        </p:txBody>
      </p:sp>
      <p:sp>
        <p:nvSpPr>
          <p:cNvPr id="17" name="Section Body - Project Overview"/>
          <p:cNvSpPr/>
          <p:nvPr/>
        </p:nvSpPr>
        <p:spPr>
          <a:xfrm>
            <a:off x="828000" y="4086000"/>
            <a:ext cx="8938800" cy="2718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/>
            <a:r>
              <a:rPr lang="en-US" sz="1150" b="1">
                <a:solidFill>
                  <a:srgbClr val="173B67"/>
                </a:solidFill>
                <a:latin typeface="Aptos"/>
                <a:cs typeface="Aptos"/>
              </a:rPr>
              <a:t>Problem Statement:</a:t>
            </a:r>
            <a:r>
              <a:rPr lang="en-US" sz="1150">
                <a:solidFill>
                  <a:srgbClr val="233142"/>
                </a:solidFill>
                <a:latin typeface="Aptos"/>
                <a:cs typeface="Aptos"/>
              </a:rPr>
              <a:t>  Beauty clinics need unified scheduling, client history, service discovery, and smarter personalization.</a:t>
            </a:r>
            <a:endParaRPr lang="en-US" sz="1150"/>
          </a:p>
          <a:p>
            <a:pPr/>
            <a:r>
              <a:rPr lang="en-US" sz="1150" b="1">
                <a:solidFill>
                  <a:srgbClr val="173B67"/>
                </a:solidFill>
                <a:latin typeface="Aptos"/>
                <a:cs typeface="Aptos"/>
              </a:rPr>
              <a:t>Solution:</a:t>
            </a:r>
            <a:r>
              <a:rPr lang="en-US" sz="1150">
                <a:solidFill>
                  <a:srgbClr val="233142"/>
                </a:solidFill>
                <a:latin typeface="Aptos"/>
                <a:cs typeface="Aptos"/>
              </a:rPr>
              <a:t>  A full-stack platform connecting clients, clinic admins, AI guidance, and operational workflows.</a:t>
            </a:r>
            <a:endParaRPr lang="en-US" sz="1150"/>
          </a:p>
          <a:p>
            <a:pPr/>
            <a:r>
              <a:rPr lang="en-US" sz="1150" b="1">
                <a:solidFill>
                  <a:srgbClr val="173B67"/>
                </a:solidFill>
                <a:latin typeface="Aptos"/>
                <a:cs typeface="Aptos"/>
              </a:rPr>
              <a:t>Target Users:</a:t>
            </a:r>
            <a:r>
              <a:rPr lang="en-US" sz="1150">
                <a:solidFill>
                  <a:srgbClr val="233142"/>
                </a:solidFill>
                <a:latin typeface="Aptos"/>
                <a:cs typeface="Aptos"/>
              </a:rPr>
              <a:t>  Clients, clinic managers, beauty specialists, and administrators.</a:t>
            </a:r>
            <a:endParaRPr lang="en-US" sz="1150"/>
          </a:p>
          <a:p>
            <a:pPr/>
            <a:r>
              <a:rPr lang="en-US" sz="1150" b="1">
                <a:solidFill>
                  <a:srgbClr val="173B67"/>
                </a:solidFill>
                <a:latin typeface="Aptos"/>
                <a:cs typeface="Aptos"/>
              </a:rPr>
              <a:t>Value Proposition:</a:t>
            </a:r>
            <a:r>
              <a:rPr lang="en-US" sz="1150">
                <a:solidFill>
                  <a:srgbClr val="233142"/>
                </a:solidFill>
                <a:latin typeface="Aptos"/>
                <a:cs typeface="Aptos"/>
              </a:rPr>
              <a:t>  Modern care journey, centralized management, and data-informed recommendations.</a:t>
            </a:r>
            <a:endParaRPr lang="en-US" sz="1150"/>
          </a:p>
        </p:txBody>
      </p:sp>
      <p:sp>
        <p:nvSpPr>
          <p:cNvPr id="21" name="Section Card - System Architecture"/>
          <p:cNvSpPr/>
          <p:nvPr/>
        </p:nvSpPr>
        <p:spPr>
          <a:xfrm>
            <a:off x="10396800" y="3312000"/>
            <a:ext cx="9478800" cy="36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7F7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22" name="Section Accent - System Architecture"/>
          <p:cNvSpPr/>
          <p:nvPr/>
        </p:nvSpPr>
        <p:spPr>
          <a:xfrm>
            <a:off x="10396800" y="3312000"/>
            <a:ext cx="100800" cy="3600000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23" name="Icon - 02"/>
          <p:cNvSpPr/>
          <p:nvPr/>
        </p:nvSpPr>
        <p:spPr>
          <a:xfrm>
            <a:off x="10656000" y="3520800"/>
            <a:ext cx="522000" cy="522000"/>
          </a:xfrm>
          <a:prstGeom prst="roundRect">
            <a:avLst/>
          </a:prstGeom>
          <a:solidFill>
            <a:srgbClr val="173B67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02</a:t>
            </a:r>
            <a:endParaRPr lang="en-US" sz="1800"/>
          </a:p>
        </p:txBody>
      </p:sp>
      <p:sp>
        <p:nvSpPr>
          <p:cNvPr id="24" name="Section Title - System Architecture"/>
          <p:cNvSpPr/>
          <p:nvPr/>
        </p:nvSpPr>
        <p:spPr>
          <a:xfrm>
            <a:off x="11278800" y="3510000"/>
            <a:ext cx="83988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700" b="1">
                <a:solidFill>
                  <a:srgbClr val="173B67"/>
                </a:solidFill>
                <a:latin typeface="Aptos"/>
                <a:cs typeface="Aptos"/>
              </a:rPr>
              <a:t>System Architecture</a:t>
            </a:r>
            <a:endParaRPr lang="en-US" sz="1700"/>
          </a:p>
        </p:txBody>
      </p:sp>
      <p:sp>
        <p:nvSpPr>
          <p:cNvPr id="18" name="Placeholder - Architecture Diagram"/>
          <p:cNvSpPr/>
          <p:nvPr/>
        </p:nvSpPr>
        <p:spPr>
          <a:xfrm>
            <a:off x="10576800" y="4032000"/>
            <a:ext cx="9118800" cy="1692000"/>
          </a:xfrm>
          <a:prstGeom prst="roundRect">
            <a:avLst/>
          </a:prstGeom>
          <a:solidFill>
            <a:srgbClr val="F6FAFE"/>
          </a:solidFill>
          <a:ln w="13970">
            <a:solidFill>
              <a:srgbClr val="83D8D8"/>
            </a:solidFill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100" b="1">
                <a:solidFill>
                  <a:srgbClr val="637083"/>
                </a:solidFill>
                <a:latin typeface="Aptos"/>
                <a:cs typeface="Aptos"/>
              </a:rPr>
              <a:t>Architecture Diagram</a:t>
            </a:r>
            <a:endParaRPr lang="en-US" sz="1100"/>
          </a:p>
          <a:p>
            <a:pPr algn="ctr"/>
            <a:r>
              <a:rPr lang="en-US" sz="1100">
                <a:solidFill>
                  <a:srgbClr val="637083"/>
                </a:solidFill>
                <a:latin typeface="Aptos"/>
                <a:cs typeface="Aptos"/>
              </a:rPr>
              <a:t>Insert screenshot / diagram</a:t>
            </a:r>
            <a:endParaRPr lang="en-US" sz="1100"/>
          </a:p>
        </p:txBody>
      </p:sp>
      <p:sp>
        <p:nvSpPr>
          <p:cNvPr id="19" name="Placeholder inner frame - Architecture Diagram"/>
          <p:cNvSpPr/>
          <p:nvPr/>
        </p:nvSpPr>
        <p:spPr>
          <a:xfrm>
            <a:off x="10702800" y="4158000"/>
            <a:ext cx="8866800" cy="1440000"/>
          </a:xfrm>
          <a:prstGeom prst="roundRect">
            <a:avLst/>
          </a:prstGeom>
          <a:noFill/>
          <a:ln w="8890">
            <a:solidFill>
              <a:srgbClr val="B8DDEB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20" name="Architecture Bullets"/>
          <p:cNvSpPr/>
          <p:nvPr/>
        </p:nvSpPr>
        <p:spPr>
          <a:xfrm>
            <a:off x="10666800" y="5868000"/>
            <a:ext cx="8938800" cy="864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050">
                <a:solidFill>
                  <a:srgbClr val="233142"/>
                </a:solidFill>
                <a:latin typeface="Aptos"/>
                <a:cs typeface="Aptos"/>
              </a:rPr>
              <a:t>â€¢ Frontend: React + Vite client experience</a:t>
            </a:r>
            <a:endParaRPr lang="en-US" sz="1050"/>
          </a:p>
          <a:p>
            <a:pPr algn="l"/>
            <a:r>
              <a:rPr lang="en-US" sz="1050">
                <a:solidFill>
                  <a:srgbClr val="233142"/>
                </a:solidFill>
                <a:latin typeface="Aptos"/>
                <a:cs typeface="Aptos"/>
              </a:rPr>
              <a:t>â€¢ Backend: FastAPI service layer</a:t>
            </a:r>
            <a:endParaRPr lang="en-US" sz="1050"/>
          </a:p>
          <a:p>
            <a:pPr algn="l"/>
            <a:r>
              <a:rPr lang="en-US" sz="1050">
                <a:solidFill>
                  <a:srgbClr val="233142"/>
                </a:solidFill>
                <a:latin typeface="Aptos"/>
                <a:cs typeface="Aptos"/>
              </a:rPr>
              <a:t>â€¢ Database: users, clinics, bookings, treatments</a:t>
            </a:r>
            <a:endParaRPr lang="en-US" sz="1050"/>
          </a:p>
          <a:p>
            <a:pPr algn="l"/>
            <a:r>
              <a:rPr lang="en-US" sz="1050">
                <a:solidFill>
                  <a:srgbClr val="233142"/>
                </a:solidFill>
                <a:latin typeface="Aptos"/>
                <a:cs typeface="Aptos"/>
              </a:rPr>
              <a:t>â€¢ AI Module: recommendations and assistant</a:t>
            </a:r>
            <a:endParaRPr lang="en-US" sz="1050"/>
          </a:p>
          <a:p>
            <a:pPr algn="l"/>
            <a:r>
              <a:rPr lang="en-US" sz="1050">
                <a:solidFill>
                  <a:srgbClr val="233142"/>
                </a:solidFill>
                <a:latin typeface="Aptos"/>
                <a:cs typeface="Aptos"/>
              </a:rPr>
              <a:t>â€¢ External APIs: OpenAI, authentication, future messaging</a:t>
            </a:r>
            <a:endParaRPr lang="en-US" sz="1050"/>
          </a:p>
        </p:txBody>
      </p:sp>
      <p:sp>
        <p:nvSpPr>
          <p:cNvPr id="32" name="Section Card - Technologies"/>
          <p:cNvSpPr/>
          <p:nvPr/>
        </p:nvSpPr>
        <p:spPr>
          <a:xfrm>
            <a:off x="20235600" y="3312000"/>
            <a:ext cx="9478800" cy="36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7F7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33" name="Section Accent - Technologies"/>
          <p:cNvSpPr/>
          <p:nvPr/>
        </p:nvSpPr>
        <p:spPr>
          <a:xfrm>
            <a:off x="20235600" y="3312000"/>
            <a:ext cx="100800" cy="3600000"/>
          </a:xfrm>
          <a:prstGeom prst="rect">
            <a:avLst/>
          </a:prstGeom>
          <a:solidFill>
            <a:srgbClr val="8B7DDA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34" name="Icon - 03"/>
          <p:cNvSpPr/>
          <p:nvPr/>
        </p:nvSpPr>
        <p:spPr>
          <a:xfrm>
            <a:off x="20494800" y="3520800"/>
            <a:ext cx="522000" cy="522000"/>
          </a:xfrm>
          <a:prstGeom prst="roundRect">
            <a:avLst/>
          </a:prstGeom>
          <a:solidFill>
            <a:srgbClr val="8B7DDA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03</a:t>
            </a:r>
            <a:endParaRPr lang="en-US" sz="1800"/>
          </a:p>
        </p:txBody>
      </p:sp>
      <p:sp>
        <p:nvSpPr>
          <p:cNvPr id="35" name="Section Title - Technologies"/>
          <p:cNvSpPr/>
          <p:nvPr/>
        </p:nvSpPr>
        <p:spPr>
          <a:xfrm>
            <a:off x="21117600" y="3510000"/>
            <a:ext cx="83988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700" b="1">
                <a:solidFill>
                  <a:srgbClr val="173B67"/>
                </a:solidFill>
                <a:latin typeface="Aptos"/>
                <a:cs typeface="Aptos"/>
              </a:rPr>
              <a:t>Technologies</a:t>
            </a:r>
            <a:endParaRPr lang="en-US" sz="1700"/>
          </a:p>
        </p:txBody>
      </p:sp>
      <p:sp>
        <p:nvSpPr>
          <p:cNvPr id="25" name="Pill - React (Vite)"/>
          <p:cNvSpPr/>
          <p:nvPr/>
        </p:nvSpPr>
        <p:spPr>
          <a:xfrm>
            <a:off x="20523600" y="4104000"/>
            <a:ext cx="2628000" cy="450000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React (Vite)</a:t>
            </a:r>
            <a:endParaRPr lang="en-US" sz="1500"/>
          </a:p>
        </p:txBody>
      </p:sp>
      <p:sp>
        <p:nvSpPr>
          <p:cNvPr id="26" name="Pill - FastAPI"/>
          <p:cNvSpPr/>
          <p:nvPr/>
        </p:nvSpPr>
        <p:spPr>
          <a:xfrm>
            <a:off x="23475600" y="4104000"/>
            <a:ext cx="2196000" cy="450000"/>
          </a:xfrm>
          <a:prstGeom prst="roundRect">
            <a:avLst/>
          </a:prstGeom>
          <a:solidFill>
            <a:srgbClr val="173B67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FastAPI</a:t>
            </a:r>
            <a:endParaRPr lang="en-US" sz="1500"/>
          </a:p>
        </p:txBody>
      </p:sp>
      <p:sp>
        <p:nvSpPr>
          <p:cNvPr id="27" name="Pill - Python"/>
          <p:cNvSpPr/>
          <p:nvPr/>
        </p:nvSpPr>
        <p:spPr>
          <a:xfrm>
            <a:off x="25923600" y="4104000"/>
            <a:ext cx="1980000" cy="450000"/>
          </a:xfrm>
          <a:prstGeom prst="roundRect">
            <a:avLst/>
          </a:prstGeom>
          <a:solidFill>
            <a:srgbClr val="8B7DDA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Python</a:t>
            </a:r>
            <a:endParaRPr lang="en-US" sz="1500"/>
          </a:p>
        </p:txBody>
      </p:sp>
      <p:sp>
        <p:nvSpPr>
          <p:cNvPr id="28" name="Pill - Database"/>
          <p:cNvSpPr/>
          <p:nvPr/>
        </p:nvSpPr>
        <p:spPr>
          <a:xfrm>
            <a:off x="20523600" y="4752000"/>
            <a:ext cx="2412000" cy="450000"/>
          </a:xfrm>
          <a:prstGeom prst="roundRect">
            <a:avLst/>
          </a:prstGeom>
          <a:solidFill>
            <a:srgbClr val="4CB3A7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Database</a:t>
            </a:r>
            <a:endParaRPr lang="en-US" sz="1500"/>
          </a:p>
        </p:txBody>
      </p:sp>
      <p:sp>
        <p:nvSpPr>
          <p:cNvPr id="29" name="Pill - GitHub"/>
          <p:cNvSpPr/>
          <p:nvPr/>
        </p:nvSpPr>
        <p:spPr>
          <a:xfrm>
            <a:off x="23187600" y="4752000"/>
            <a:ext cx="2124000" cy="450000"/>
          </a:xfrm>
          <a:prstGeom prst="roundRect">
            <a:avLst/>
          </a:prstGeom>
          <a:solidFill>
            <a:srgbClr val="415A77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GitHub</a:t>
            </a:r>
            <a:endParaRPr lang="en-US" sz="1500"/>
          </a:p>
        </p:txBody>
      </p:sp>
      <p:sp>
        <p:nvSpPr>
          <p:cNvPr id="30" name="Pill - OpenAI APIs"/>
          <p:cNvSpPr/>
          <p:nvPr/>
        </p:nvSpPr>
        <p:spPr>
          <a:xfrm>
            <a:off x="25563600" y="4752000"/>
            <a:ext cx="2736000" cy="450000"/>
          </a:xfrm>
          <a:prstGeom prst="roundRect">
            <a:avLst/>
          </a:prstGeom>
          <a:solidFill>
            <a:srgbClr val="6D5DD3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OpenAI APIs</a:t>
            </a:r>
            <a:endParaRPr lang="en-US" sz="1500"/>
          </a:p>
        </p:txBody>
      </p:sp>
      <p:sp>
        <p:nvSpPr>
          <p:cNvPr id="31" name="Tech note"/>
          <p:cNvSpPr/>
          <p:nvPr/>
        </p:nvSpPr>
        <p:spPr>
          <a:xfrm>
            <a:off x="20559600" y="5544000"/>
            <a:ext cx="88308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050">
                <a:solidFill>
                  <a:srgbClr val="637083"/>
                </a:solidFill>
                <a:latin typeface="Aptos"/>
                <a:cs typeface="Aptos"/>
              </a:rPr>
              <a:t>Editable technology chips for adding database type, deployment stack, and integrations.</a:t>
            </a:r>
            <a:endParaRPr lang="en-US" sz="1050"/>
          </a:p>
        </p:txBody>
      </p:sp>
      <p:sp>
        <p:nvSpPr>
          <p:cNvPr id="46" name="Section Card - User Interfaces"/>
          <p:cNvSpPr/>
          <p:nvPr/>
        </p:nvSpPr>
        <p:spPr>
          <a:xfrm>
            <a:off x="558000" y="7290000"/>
            <a:ext cx="9478800" cy="5184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7F7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47" name="Section Accent - User Interfaces"/>
          <p:cNvSpPr/>
          <p:nvPr/>
        </p:nvSpPr>
        <p:spPr>
          <a:xfrm>
            <a:off x="558000" y="7290000"/>
            <a:ext cx="100800" cy="518400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48" name="Icon - 04"/>
          <p:cNvSpPr/>
          <p:nvPr/>
        </p:nvSpPr>
        <p:spPr>
          <a:xfrm>
            <a:off x="817200" y="7498800"/>
            <a:ext cx="522000" cy="522000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04</a:t>
            </a:r>
            <a:endParaRPr lang="en-US" sz="1800"/>
          </a:p>
        </p:txBody>
      </p:sp>
      <p:sp>
        <p:nvSpPr>
          <p:cNvPr id="49" name="Section Title - User Interfaces"/>
          <p:cNvSpPr/>
          <p:nvPr/>
        </p:nvSpPr>
        <p:spPr>
          <a:xfrm>
            <a:off x="1440000" y="7488000"/>
            <a:ext cx="83988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700" b="1">
                <a:solidFill>
                  <a:srgbClr val="173B67"/>
                </a:solidFill>
                <a:latin typeface="Aptos"/>
                <a:cs typeface="Aptos"/>
              </a:rPr>
              <a:t>User Interfaces</a:t>
            </a:r>
            <a:endParaRPr lang="en-US" sz="1700"/>
          </a:p>
        </p:txBody>
      </p:sp>
      <p:sp>
        <p:nvSpPr>
          <p:cNvPr id="36" name="Placeholder - Homepage Screenshot"/>
          <p:cNvSpPr/>
          <p:nvPr/>
        </p:nvSpPr>
        <p:spPr>
          <a:xfrm>
            <a:off x="774000" y="7920000"/>
            <a:ext cx="2754000" cy="1800000"/>
          </a:xfrm>
          <a:prstGeom prst="roundRect">
            <a:avLst/>
          </a:prstGeom>
          <a:solidFill>
            <a:srgbClr val="F6FAFE"/>
          </a:solidFill>
          <a:ln w="13970">
            <a:solidFill>
              <a:srgbClr val="83D8D8"/>
            </a:solidFill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100" b="1">
                <a:solidFill>
                  <a:srgbClr val="637083"/>
                </a:solidFill>
                <a:latin typeface="Aptos"/>
                <a:cs typeface="Aptos"/>
              </a:rPr>
              <a:t>Homepage Screenshot</a:t>
            </a:r>
            <a:endParaRPr lang="en-US" sz="1100"/>
          </a:p>
          <a:p>
            <a:pPr algn="ctr"/>
            <a:r>
              <a:rPr lang="en-US" sz="1100">
                <a:solidFill>
                  <a:srgbClr val="637083"/>
                </a:solidFill>
                <a:latin typeface="Aptos"/>
                <a:cs typeface="Aptos"/>
              </a:rPr>
              <a:t>Insert screenshot / diagram</a:t>
            </a:r>
            <a:endParaRPr lang="en-US" sz="1100"/>
          </a:p>
        </p:txBody>
      </p:sp>
      <p:sp>
        <p:nvSpPr>
          <p:cNvPr id="37" name="Placeholder inner frame - Homepage Screenshot"/>
          <p:cNvSpPr/>
          <p:nvPr/>
        </p:nvSpPr>
        <p:spPr>
          <a:xfrm>
            <a:off x="900000" y="8046000"/>
            <a:ext cx="2502000" cy="1548000"/>
          </a:xfrm>
          <a:prstGeom prst="roundRect">
            <a:avLst/>
          </a:prstGeom>
          <a:noFill/>
          <a:ln w="8890">
            <a:solidFill>
              <a:srgbClr val="B8DDEB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38" name="Placeholder - Login Screenshot"/>
          <p:cNvSpPr/>
          <p:nvPr/>
        </p:nvSpPr>
        <p:spPr>
          <a:xfrm>
            <a:off x="3924000" y="7920000"/>
            <a:ext cx="2754000" cy="1800000"/>
          </a:xfrm>
          <a:prstGeom prst="roundRect">
            <a:avLst/>
          </a:prstGeom>
          <a:solidFill>
            <a:srgbClr val="F6FAFE"/>
          </a:solidFill>
          <a:ln w="13970">
            <a:solidFill>
              <a:srgbClr val="83D8D8"/>
            </a:solidFill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100" b="1">
                <a:solidFill>
                  <a:srgbClr val="637083"/>
                </a:solidFill>
                <a:latin typeface="Aptos"/>
                <a:cs typeface="Aptos"/>
              </a:rPr>
              <a:t>Login Screenshot</a:t>
            </a:r>
            <a:endParaRPr lang="en-US" sz="1100"/>
          </a:p>
          <a:p>
            <a:pPr algn="ctr"/>
            <a:r>
              <a:rPr lang="en-US" sz="1100">
                <a:solidFill>
                  <a:srgbClr val="637083"/>
                </a:solidFill>
                <a:latin typeface="Aptos"/>
                <a:cs typeface="Aptos"/>
              </a:rPr>
              <a:t>Insert screenshot / diagram</a:t>
            </a:r>
            <a:endParaRPr lang="en-US" sz="1100"/>
          </a:p>
        </p:txBody>
      </p:sp>
      <p:sp>
        <p:nvSpPr>
          <p:cNvPr id="39" name="Placeholder inner frame - Login Screenshot"/>
          <p:cNvSpPr/>
          <p:nvPr/>
        </p:nvSpPr>
        <p:spPr>
          <a:xfrm>
            <a:off x="4050000" y="8046000"/>
            <a:ext cx="2502000" cy="1548000"/>
          </a:xfrm>
          <a:prstGeom prst="roundRect">
            <a:avLst/>
          </a:prstGeom>
          <a:noFill/>
          <a:ln w="8890">
            <a:solidFill>
              <a:srgbClr val="B8DDEB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40" name="Placeholder - Client Dashboard"/>
          <p:cNvSpPr/>
          <p:nvPr/>
        </p:nvSpPr>
        <p:spPr>
          <a:xfrm>
            <a:off x="7074000" y="7920000"/>
            <a:ext cx="2754000" cy="1800000"/>
          </a:xfrm>
          <a:prstGeom prst="roundRect">
            <a:avLst/>
          </a:prstGeom>
          <a:solidFill>
            <a:srgbClr val="F6FAFE"/>
          </a:solidFill>
          <a:ln w="13970">
            <a:solidFill>
              <a:srgbClr val="83D8D8"/>
            </a:solidFill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100" b="1">
                <a:solidFill>
                  <a:srgbClr val="637083"/>
                </a:solidFill>
                <a:latin typeface="Aptos"/>
                <a:cs typeface="Aptos"/>
              </a:rPr>
              <a:t>Client Dashboard</a:t>
            </a:r>
            <a:endParaRPr lang="en-US" sz="1100"/>
          </a:p>
          <a:p>
            <a:pPr algn="ctr"/>
            <a:r>
              <a:rPr lang="en-US" sz="1100">
                <a:solidFill>
                  <a:srgbClr val="637083"/>
                </a:solidFill>
                <a:latin typeface="Aptos"/>
                <a:cs typeface="Aptos"/>
              </a:rPr>
              <a:t>Insert screenshot / diagram</a:t>
            </a:r>
            <a:endParaRPr lang="en-US" sz="1100"/>
          </a:p>
        </p:txBody>
      </p:sp>
      <p:sp>
        <p:nvSpPr>
          <p:cNvPr id="41" name="Placeholder inner frame - Client Dashboard"/>
          <p:cNvSpPr/>
          <p:nvPr/>
        </p:nvSpPr>
        <p:spPr>
          <a:xfrm>
            <a:off x="7200000" y="8046000"/>
            <a:ext cx="2502000" cy="1548000"/>
          </a:xfrm>
          <a:prstGeom prst="roundRect">
            <a:avLst/>
          </a:prstGeom>
          <a:noFill/>
          <a:ln w="8890">
            <a:solidFill>
              <a:srgbClr val="B8DDEB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42" name="Placeholder - Admin Dashboard"/>
          <p:cNvSpPr/>
          <p:nvPr/>
        </p:nvSpPr>
        <p:spPr>
          <a:xfrm>
            <a:off x="1278000" y="10116000"/>
            <a:ext cx="3672000" cy="2016000"/>
          </a:xfrm>
          <a:prstGeom prst="roundRect">
            <a:avLst/>
          </a:prstGeom>
          <a:solidFill>
            <a:srgbClr val="F6FAFE"/>
          </a:solidFill>
          <a:ln w="13970">
            <a:solidFill>
              <a:srgbClr val="83D8D8"/>
            </a:solidFill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100" b="1">
                <a:solidFill>
                  <a:srgbClr val="637083"/>
                </a:solidFill>
                <a:latin typeface="Aptos"/>
                <a:cs typeface="Aptos"/>
              </a:rPr>
              <a:t>Admin Dashboard</a:t>
            </a:r>
            <a:endParaRPr lang="en-US" sz="1100"/>
          </a:p>
          <a:p>
            <a:pPr algn="ctr"/>
            <a:r>
              <a:rPr lang="en-US" sz="1100">
                <a:solidFill>
                  <a:srgbClr val="637083"/>
                </a:solidFill>
                <a:latin typeface="Aptos"/>
                <a:cs typeface="Aptos"/>
              </a:rPr>
              <a:t>Insert screenshot / diagram</a:t>
            </a:r>
            <a:endParaRPr lang="en-US" sz="1100"/>
          </a:p>
        </p:txBody>
      </p:sp>
      <p:sp>
        <p:nvSpPr>
          <p:cNvPr id="43" name="Placeholder inner frame - Admin Dashboard"/>
          <p:cNvSpPr/>
          <p:nvPr/>
        </p:nvSpPr>
        <p:spPr>
          <a:xfrm>
            <a:off x="1404000" y="10242000"/>
            <a:ext cx="3420000" cy="1764000"/>
          </a:xfrm>
          <a:prstGeom prst="roundRect">
            <a:avLst/>
          </a:prstGeom>
          <a:noFill/>
          <a:ln w="8890">
            <a:solidFill>
              <a:srgbClr val="B8DDEB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44" name="Placeholder - AI Recommendation Screen"/>
          <p:cNvSpPr/>
          <p:nvPr/>
        </p:nvSpPr>
        <p:spPr>
          <a:xfrm>
            <a:off x="5634000" y="10116000"/>
            <a:ext cx="3672000" cy="2016000"/>
          </a:xfrm>
          <a:prstGeom prst="roundRect">
            <a:avLst/>
          </a:prstGeom>
          <a:solidFill>
            <a:srgbClr val="F6FAFE"/>
          </a:solidFill>
          <a:ln w="13970">
            <a:solidFill>
              <a:srgbClr val="83D8D8"/>
            </a:solidFill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100" b="1">
                <a:solidFill>
                  <a:srgbClr val="637083"/>
                </a:solidFill>
                <a:latin typeface="Aptos"/>
                <a:cs typeface="Aptos"/>
              </a:rPr>
              <a:t>AI Recommendation Screen</a:t>
            </a:r>
            <a:endParaRPr lang="en-US" sz="1100"/>
          </a:p>
          <a:p>
            <a:pPr algn="ctr"/>
            <a:r>
              <a:rPr lang="en-US" sz="1100">
                <a:solidFill>
                  <a:srgbClr val="637083"/>
                </a:solidFill>
                <a:latin typeface="Aptos"/>
                <a:cs typeface="Aptos"/>
              </a:rPr>
              <a:t>Insert screenshot / diagram</a:t>
            </a:r>
            <a:endParaRPr lang="en-US" sz="1100"/>
          </a:p>
        </p:txBody>
      </p:sp>
      <p:sp>
        <p:nvSpPr>
          <p:cNvPr id="45" name="Placeholder inner frame - AI Recommendation Screen"/>
          <p:cNvSpPr/>
          <p:nvPr/>
        </p:nvSpPr>
        <p:spPr>
          <a:xfrm>
            <a:off x="5760000" y="10242000"/>
            <a:ext cx="3420000" cy="1764000"/>
          </a:xfrm>
          <a:prstGeom prst="roundRect">
            <a:avLst/>
          </a:prstGeom>
          <a:noFill/>
          <a:ln w="8890">
            <a:solidFill>
              <a:srgbClr val="B8DDEB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52" name="Section Card - AI Features"/>
          <p:cNvSpPr/>
          <p:nvPr/>
        </p:nvSpPr>
        <p:spPr>
          <a:xfrm>
            <a:off x="10396800" y="7290000"/>
            <a:ext cx="9478800" cy="5184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7F7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53" name="Section Accent - AI Features"/>
          <p:cNvSpPr/>
          <p:nvPr/>
        </p:nvSpPr>
        <p:spPr>
          <a:xfrm>
            <a:off x="10396800" y="7290000"/>
            <a:ext cx="100800" cy="5184000"/>
          </a:xfrm>
          <a:prstGeom prst="rect">
            <a:avLst/>
          </a:prstGeom>
          <a:solidFill>
            <a:srgbClr val="8B7DDA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54" name="Icon - 05"/>
          <p:cNvSpPr/>
          <p:nvPr/>
        </p:nvSpPr>
        <p:spPr>
          <a:xfrm>
            <a:off x="10656000" y="7498800"/>
            <a:ext cx="522000" cy="522000"/>
          </a:xfrm>
          <a:prstGeom prst="roundRect">
            <a:avLst/>
          </a:prstGeom>
          <a:solidFill>
            <a:srgbClr val="8B7DDA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05</a:t>
            </a:r>
            <a:endParaRPr lang="en-US" sz="1800"/>
          </a:p>
        </p:txBody>
      </p:sp>
      <p:sp>
        <p:nvSpPr>
          <p:cNvPr id="55" name="Section Title - AI Features"/>
          <p:cNvSpPr/>
          <p:nvPr/>
        </p:nvSpPr>
        <p:spPr>
          <a:xfrm>
            <a:off x="11278800" y="7488000"/>
            <a:ext cx="83988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700" b="1">
                <a:solidFill>
                  <a:srgbClr val="173B67"/>
                </a:solidFill>
                <a:latin typeface="Aptos"/>
                <a:cs typeface="Aptos"/>
              </a:rPr>
              <a:t>AI Features</a:t>
            </a:r>
            <a:endParaRPr lang="en-US" sz="1700"/>
          </a:p>
        </p:txBody>
      </p:sp>
      <p:sp>
        <p:nvSpPr>
          <p:cNvPr id="50" name="AI Feature Bullets"/>
          <p:cNvSpPr/>
          <p:nvPr/>
        </p:nvSpPr>
        <p:spPr>
          <a:xfrm>
            <a:off x="10666800" y="8064000"/>
            <a:ext cx="8938800" cy="1872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200">
                <a:solidFill>
                  <a:srgbClr val="233142"/>
                </a:solidFill>
                <a:latin typeface="Aptos"/>
                <a:cs typeface="Aptos"/>
              </a:rPr>
              <a:t>â€¢ Personalized treatment recommendations</a:t>
            </a:r>
            <a:endParaRPr lang="en-US" sz="1200"/>
          </a:p>
          <a:p>
            <a:pPr algn="l"/>
            <a:r>
              <a:rPr lang="en-US" sz="1200">
                <a:solidFill>
                  <a:srgbClr val="233142"/>
                </a:solidFill>
                <a:latin typeface="Aptos"/>
                <a:cs typeface="Aptos"/>
              </a:rPr>
              <a:t>â€¢ Smart assistant for client questions</a:t>
            </a:r>
            <a:endParaRPr lang="en-US" sz="1200"/>
          </a:p>
          <a:p>
            <a:pPr algn="l"/>
            <a:r>
              <a:rPr lang="en-US" sz="1200">
                <a:solidFill>
                  <a:srgbClr val="233142"/>
                </a:solidFill>
                <a:latin typeface="Aptos"/>
                <a:cs typeface="Aptos"/>
              </a:rPr>
              <a:t>â€¢ User behavior and preference analysis</a:t>
            </a:r>
            <a:endParaRPr lang="en-US" sz="1200"/>
          </a:p>
          <a:p>
            <a:pPr algn="l"/>
            <a:r>
              <a:rPr lang="en-US" sz="1200">
                <a:solidFill>
                  <a:srgbClr val="233142"/>
                </a:solidFill>
                <a:latin typeface="Aptos"/>
                <a:cs typeface="Aptos"/>
              </a:rPr>
              <a:t>â€¢ Treatment discovery based on goals, history, and availability</a:t>
            </a:r>
            <a:endParaRPr lang="en-US" sz="1200"/>
          </a:p>
        </p:txBody>
      </p:sp>
      <p:sp>
        <p:nvSpPr>
          <p:cNvPr id="51" name="AI Flow"/>
          <p:cNvSpPr/>
          <p:nvPr/>
        </p:nvSpPr>
        <p:spPr>
          <a:xfrm>
            <a:off x="10828800" y="10296000"/>
            <a:ext cx="8614800" cy="1116000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D7CEFA"/>
            </a:solidFill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100" b="1">
                <a:solidFill>
                  <a:srgbClr val="173B67"/>
                </a:solidFill>
                <a:latin typeface="Aptos"/>
                <a:cs typeface="Aptos"/>
              </a:rPr>
              <a:t>Client Profile  â†’  AI Module  â†’  Recommended Treatments</a:t>
            </a:r>
            <a:endParaRPr lang="en-US" sz="1100"/>
          </a:p>
          <a:p>
            <a:pPr algn="ctr"/>
            <a:r>
              <a:rPr lang="en-US" sz="1100">
                <a:solidFill>
                  <a:srgbClr val="173B67"/>
                </a:solidFill>
                <a:latin typeface="Aptos"/>
                <a:cs typeface="Aptos"/>
              </a:rPr>
              <a:t>Intent, skin goals, service history, clinic rules</a:t>
            </a:r>
            <a:endParaRPr lang="en-US" sz="1100"/>
          </a:p>
        </p:txBody>
      </p:sp>
      <p:sp>
        <p:nvSpPr>
          <p:cNvPr id="60" name="Section Card - Testing &amp; Validation"/>
          <p:cNvSpPr/>
          <p:nvPr/>
        </p:nvSpPr>
        <p:spPr>
          <a:xfrm>
            <a:off x="20235600" y="7290000"/>
            <a:ext cx="9478800" cy="5184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7F7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61" name="Section Accent - Testing &amp; Validation"/>
          <p:cNvSpPr/>
          <p:nvPr/>
        </p:nvSpPr>
        <p:spPr>
          <a:xfrm>
            <a:off x="20235600" y="7290000"/>
            <a:ext cx="100800" cy="5184000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62" name="Icon - 06"/>
          <p:cNvSpPr/>
          <p:nvPr/>
        </p:nvSpPr>
        <p:spPr>
          <a:xfrm>
            <a:off x="20494800" y="7498800"/>
            <a:ext cx="522000" cy="522000"/>
          </a:xfrm>
          <a:prstGeom prst="roundRect">
            <a:avLst/>
          </a:prstGeom>
          <a:solidFill>
            <a:srgbClr val="173B67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06</a:t>
            </a:r>
            <a:endParaRPr lang="en-US" sz="1800"/>
          </a:p>
        </p:txBody>
      </p:sp>
      <p:sp>
        <p:nvSpPr>
          <p:cNvPr id="63" name="Section Title - Testing &amp; Validation"/>
          <p:cNvSpPr/>
          <p:nvPr/>
        </p:nvSpPr>
        <p:spPr>
          <a:xfrm>
            <a:off x="21117600" y="7488000"/>
            <a:ext cx="83988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700" b="1">
                <a:solidFill>
                  <a:srgbClr val="173B67"/>
                </a:solidFill>
                <a:latin typeface="Aptos"/>
                <a:cs typeface="Aptos"/>
              </a:rPr>
              <a:t>Testing &amp; Validation</a:t>
            </a:r>
            <a:endParaRPr lang="en-US" sz="1700"/>
          </a:p>
        </p:txBody>
      </p:sp>
      <p:sp>
        <p:nvSpPr>
          <p:cNvPr id="56" name="Testing Bullets"/>
          <p:cNvSpPr/>
          <p:nvPr/>
        </p:nvSpPr>
        <p:spPr>
          <a:xfrm>
            <a:off x="20505600" y="8064000"/>
            <a:ext cx="8938800" cy="1728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200">
                <a:solidFill>
                  <a:srgbClr val="233142"/>
                </a:solidFill>
                <a:latin typeface="Aptos"/>
                <a:cs typeface="Aptos"/>
              </a:rPr>
              <a:t>â€¢ Functional Testing</a:t>
            </a:r>
            <a:endParaRPr lang="en-US" sz="1200"/>
          </a:p>
          <a:p>
            <a:pPr algn="l"/>
            <a:r>
              <a:rPr lang="en-US" sz="1200">
                <a:solidFill>
                  <a:srgbClr val="233142"/>
                </a:solidFill>
                <a:latin typeface="Aptos"/>
                <a:cs typeface="Aptos"/>
              </a:rPr>
              <a:t>â€¢ Usability Testing</a:t>
            </a:r>
            <a:endParaRPr lang="en-US" sz="1200"/>
          </a:p>
          <a:p>
            <a:pPr algn="l"/>
            <a:r>
              <a:rPr lang="en-US" sz="1200">
                <a:solidFill>
                  <a:srgbClr val="233142"/>
                </a:solidFill>
                <a:latin typeface="Aptos"/>
                <a:cs typeface="Aptos"/>
              </a:rPr>
              <a:t>â€¢ Security Checks</a:t>
            </a:r>
            <a:endParaRPr lang="en-US" sz="1200"/>
          </a:p>
          <a:p>
            <a:pPr algn="l"/>
            <a:r>
              <a:rPr lang="en-US" sz="1200">
                <a:solidFill>
                  <a:srgbClr val="233142"/>
                </a:solidFill>
                <a:latin typeface="Aptos"/>
                <a:cs typeface="Aptos"/>
              </a:rPr>
              <a:t>â€¢ Performance Validation</a:t>
            </a:r>
            <a:endParaRPr lang="en-US" sz="1200"/>
          </a:p>
        </p:txBody>
      </p:sp>
      <p:sp>
        <p:nvSpPr>
          <p:cNvPr id="57" name="Validation bar"/>
          <p:cNvSpPr/>
          <p:nvPr/>
        </p:nvSpPr>
        <p:spPr>
          <a:xfrm>
            <a:off x="20667600" y="10152000"/>
            <a:ext cx="8614800" cy="270000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58" name="Validation split 1"/>
          <p:cNvSpPr/>
          <p:nvPr/>
        </p:nvSpPr>
        <p:spPr>
          <a:xfrm>
            <a:off x="20667600" y="10152000"/>
            <a:ext cx="6547248" cy="270000"/>
          </a:xfrm>
          <a:prstGeom prst="roundRect">
            <a:avLst/>
          </a:prstGeom>
          <a:solidFill>
            <a:srgbClr val="173B67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59" name="Validation caption"/>
          <p:cNvSpPr/>
          <p:nvPr/>
        </p:nvSpPr>
        <p:spPr>
          <a:xfrm>
            <a:off x="20631600" y="10566000"/>
            <a:ext cx="8686800" cy="648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050">
                <a:solidFill>
                  <a:srgbClr val="637083"/>
                </a:solidFill>
                <a:latin typeface="Aptos"/>
                <a:cs typeface="Aptos"/>
              </a:rPr>
              <a:t>Use this area for test metrics, pass rate, Lighthouse score, or user feedback summary.</a:t>
            </a:r>
            <a:endParaRPr lang="en-US" sz="1050"/>
          </a:p>
        </p:txBody>
      </p:sp>
      <p:sp>
        <p:nvSpPr>
          <p:cNvPr id="67" name="Section Card - Highlights &amp; Results"/>
          <p:cNvSpPr/>
          <p:nvPr/>
        </p:nvSpPr>
        <p:spPr>
          <a:xfrm>
            <a:off x="558000" y="12996000"/>
            <a:ext cx="9478800" cy="36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7F7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68" name="Section Accent - Highlights &amp; Results"/>
          <p:cNvSpPr/>
          <p:nvPr/>
        </p:nvSpPr>
        <p:spPr>
          <a:xfrm>
            <a:off x="558000" y="12996000"/>
            <a:ext cx="100800" cy="360000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69" name="Icon - 07"/>
          <p:cNvSpPr/>
          <p:nvPr/>
        </p:nvSpPr>
        <p:spPr>
          <a:xfrm>
            <a:off x="817200" y="13204800"/>
            <a:ext cx="522000" cy="522000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07</a:t>
            </a:r>
            <a:endParaRPr lang="en-US" sz="1800"/>
          </a:p>
        </p:txBody>
      </p:sp>
      <p:sp>
        <p:nvSpPr>
          <p:cNvPr id="70" name="Section Title - Highlights &amp; Results"/>
          <p:cNvSpPr/>
          <p:nvPr/>
        </p:nvSpPr>
        <p:spPr>
          <a:xfrm>
            <a:off x="1440000" y="13194000"/>
            <a:ext cx="83988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700" b="1">
                <a:solidFill>
                  <a:srgbClr val="173B67"/>
                </a:solidFill>
                <a:latin typeface="Aptos"/>
                <a:cs typeface="Aptos"/>
              </a:rPr>
              <a:t>Highlights &amp; Results</a:t>
            </a:r>
            <a:endParaRPr lang="en-US" sz="1700"/>
          </a:p>
        </p:txBody>
      </p:sp>
      <p:sp>
        <p:nvSpPr>
          <p:cNvPr id="64" name="Metric 1"/>
          <p:cNvSpPr/>
          <p:nvPr/>
        </p:nvSpPr>
        <p:spPr>
          <a:xfrm>
            <a:off x="882000" y="14112000"/>
            <a:ext cx="4176000" cy="1512000"/>
          </a:xfrm>
          <a:prstGeom prst="roundRect">
            <a:avLst/>
          </a:prstGeom>
          <a:solidFill>
            <a:srgbClr val="EFFBFB"/>
          </a:solidFill>
          <a:ln w="10160">
            <a:solidFill>
              <a:srgbClr val="BFEDEE"/>
            </a:solidFill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200" b="1">
                <a:solidFill>
                  <a:srgbClr val="173B67"/>
                </a:solidFill>
                <a:latin typeface="Aptos"/>
                <a:cs typeface="Aptos"/>
              </a:rPr>
              <a:t>Client Experience</a:t>
            </a:r>
            <a:endParaRPr lang="en-US" sz="1200"/>
          </a:p>
          <a:p>
            <a:pPr algn="ctr"/>
            <a:r>
              <a:rPr lang="en-US" sz="1200">
                <a:solidFill>
                  <a:srgbClr val="173B67"/>
                </a:solidFill>
                <a:latin typeface="Aptos"/>
                <a:cs typeface="Aptos"/>
              </a:rPr>
              <a:t>Improved booking and service journey</a:t>
            </a:r>
            <a:endParaRPr lang="en-US" sz="1200"/>
          </a:p>
        </p:txBody>
      </p:sp>
      <p:sp>
        <p:nvSpPr>
          <p:cNvPr id="65" name="Metric 2"/>
          <p:cNvSpPr/>
          <p:nvPr/>
        </p:nvSpPr>
        <p:spPr>
          <a:xfrm>
            <a:off x="5562000" y="14112000"/>
            <a:ext cx="4176000" cy="1512000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D7CEFA"/>
            </a:solidFill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200" b="1">
                <a:solidFill>
                  <a:srgbClr val="173B67"/>
                </a:solidFill>
                <a:latin typeface="Aptos"/>
                <a:cs typeface="Aptos"/>
              </a:rPr>
              <a:t>Clinic Management</a:t>
            </a:r>
            <a:endParaRPr lang="en-US" sz="1200"/>
          </a:p>
          <a:p>
            <a:pPr algn="ctr"/>
            <a:r>
              <a:rPr lang="en-US" sz="1200">
                <a:solidFill>
                  <a:srgbClr val="173B67"/>
                </a:solidFill>
                <a:latin typeface="Aptos"/>
                <a:cs typeface="Aptos"/>
              </a:rPr>
              <a:t>Centralized admin operations</a:t>
            </a:r>
            <a:endParaRPr lang="en-US" sz="1200"/>
          </a:p>
        </p:txBody>
      </p:sp>
      <p:sp>
        <p:nvSpPr>
          <p:cNvPr id="66" name="Highlights Bullets"/>
          <p:cNvSpPr/>
          <p:nvPr/>
        </p:nvSpPr>
        <p:spPr>
          <a:xfrm>
            <a:off x="828000" y="15822000"/>
            <a:ext cx="8938800" cy="666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150">
                <a:solidFill>
                  <a:srgbClr val="233142"/>
                </a:solidFill>
                <a:latin typeface="Aptos"/>
                <a:cs typeface="Aptos"/>
              </a:rPr>
              <a:t>â€¢ AI-powered recommendations</a:t>
            </a:r>
            <a:endParaRPr lang="en-US" sz="1150"/>
          </a:p>
          <a:p>
            <a:pPr algn="l"/>
            <a:r>
              <a:rPr lang="en-US" sz="1150">
                <a:solidFill>
                  <a:srgbClr val="233142"/>
                </a:solidFill>
                <a:latin typeface="Aptos"/>
                <a:cs typeface="Aptos"/>
              </a:rPr>
              <a:t>â€¢ Responsive modern user interface</a:t>
            </a:r>
            <a:endParaRPr lang="en-US" sz="1150"/>
          </a:p>
          <a:p>
            <a:pPr algn="l"/>
            <a:r>
              <a:rPr lang="en-US" sz="1150">
                <a:solidFill>
                  <a:srgbClr val="233142"/>
                </a:solidFill>
                <a:latin typeface="Aptos"/>
                <a:cs typeface="Aptos"/>
              </a:rPr>
              <a:t>â€¢ Clear separation between client and admin workflows</a:t>
            </a:r>
            <a:endParaRPr lang="en-US" sz="1150"/>
          </a:p>
        </p:txBody>
      </p:sp>
      <p:sp>
        <p:nvSpPr>
          <p:cNvPr id="73" name="Section Card - Future Development"/>
          <p:cNvSpPr/>
          <p:nvPr/>
        </p:nvSpPr>
        <p:spPr>
          <a:xfrm>
            <a:off x="10396800" y="12996000"/>
            <a:ext cx="9478800" cy="36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7F7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74" name="Section Accent - Future Development"/>
          <p:cNvSpPr/>
          <p:nvPr/>
        </p:nvSpPr>
        <p:spPr>
          <a:xfrm>
            <a:off x="10396800" y="12996000"/>
            <a:ext cx="100800" cy="3600000"/>
          </a:xfrm>
          <a:prstGeom prst="rect">
            <a:avLst/>
          </a:prstGeom>
          <a:solidFill>
            <a:srgbClr val="8B7DDA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75" name="Icon - 08"/>
          <p:cNvSpPr/>
          <p:nvPr/>
        </p:nvSpPr>
        <p:spPr>
          <a:xfrm>
            <a:off x="10656000" y="13204800"/>
            <a:ext cx="522000" cy="522000"/>
          </a:xfrm>
          <a:prstGeom prst="roundRect">
            <a:avLst/>
          </a:prstGeom>
          <a:solidFill>
            <a:srgbClr val="8B7DDA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08</a:t>
            </a:r>
            <a:endParaRPr lang="en-US" sz="1800"/>
          </a:p>
        </p:txBody>
      </p:sp>
      <p:sp>
        <p:nvSpPr>
          <p:cNvPr id="76" name="Section Title - Future Development"/>
          <p:cNvSpPr/>
          <p:nvPr/>
        </p:nvSpPr>
        <p:spPr>
          <a:xfrm>
            <a:off x="11278800" y="13194000"/>
            <a:ext cx="83988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700" b="1">
                <a:solidFill>
                  <a:srgbClr val="173B67"/>
                </a:solidFill>
                <a:latin typeface="Aptos"/>
                <a:cs typeface="Aptos"/>
              </a:rPr>
              <a:t>Future Development</a:t>
            </a:r>
            <a:endParaRPr lang="en-US" sz="1700"/>
          </a:p>
        </p:txBody>
      </p:sp>
      <p:sp>
        <p:nvSpPr>
          <p:cNvPr id="71" name="Future Bullets"/>
          <p:cNvSpPr/>
          <p:nvPr/>
        </p:nvSpPr>
        <p:spPr>
          <a:xfrm>
            <a:off x="10666800" y="13806000"/>
            <a:ext cx="8938800" cy="1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250">
                <a:solidFill>
                  <a:srgbClr val="233142"/>
                </a:solidFill>
                <a:latin typeface="Aptos"/>
                <a:cs typeface="Aptos"/>
              </a:rPr>
              <a:t>â€¢ Mobile Application</a:t>
            </a:r>
            <a:endParaRPr lang="en-US" sz="1250"/>
          </a:p>
          <a:p>
            <a:pPr algn="l"/>
            <a:r>
              <a:rPr lang="en-US" sz="1250">
                <a:solidFill>
                  <a:srgbClr val="233142"/>
                </a:solidFill>
                <a:latin typeface="Aptos"/>
                <a:cs typeface="Aptos"/>
              </a:rPr>
              <a:t>â€¢ Advanced Analytics</a:t>
            </a:r>
            <a:endParaRPr lang="en-US" sz="1250"/>
          </a:p>
          <a:p>
            <a:pPr algn="l"/>
            <a:r>
              <a:rPr lang="en-US" sz="1250">
                <a:solidFill>
                  <a:srgbClr val="233142"/>
                </a:solidFill>
                <a:latin typeface="Aptos"/>
                <a:cs typeface="Aptos"/>
              </a:rPr>
              <a:t>â€¢ Multi-clinic Support</a:t>
            </a:r>
            <a:endParaRPr lang="en-US" sz="1250"/>
          </a:p>
          <a:p>
            <a:pPr algn="l"/>
            <a:r>
              <a:rPr lang="en-US" sz="1250">
                <a:solidFill>
                  <a:srgbClr val="233142"/>
                </a:solidFill>
                <a:latin typeface="Aptos"/>
                <a:cs typeface="Aptos"/>
              </a:rPr>
              <a:t>â€¢ WhatsApp Integration</a:t>
            </a:r>
            <a:endParaRPr lang="en-US" sz="1250"/>
          </a:p>
        </p:txBody>
      </p:sp>
      <p:sp>
        <p:nvSpPr>
          <p:cNvPr id="72" name="Roadmap"/>
          <p:cNvSpPr/>
          <p:nvPr/>
        </p:nvSpPr>
        <p:spPr>
          <a:xfrm>
            <a:off x="10792800" y="15156000"/>
            <a:ext cx="8686800" cy="360000"/>
          </a:xfrm>
          <a:prstGeom prst="roundRect">
            <a:avLst/>
          </a:prstGeom>
          <a:solidFill>
            <a:srgbClr val="EAF7FF"/>
          </a:solidFill>
          <a:ln w="10160">
            <a:solidFill>
              <a:srgbClr val="B8DDEB"/>
            </a:solidFill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100" b="1">
                <a:solidFill>
                  <a:srgbClr val="173B67"/>
                </a:solidFill>
                <a:latin typeface="Aptos"/>
                <a:cs typeface="Aptos"/>
              </a:rPr>
              <a:t>MVP  â†’  Analytics  â†’  Scale  â†’  Omnichannel Care</a:t>
            </a:r>
            <a:endParaRPr lang="en-US" sz="1100"/>
          </a:p>
        </p:txBody>
      </p:sp>
      <p:sp>
        <p:nvSpPr>
          <p:cNvPr id="81" name="Section Card - Contact Information"/>
          <p:cNvSpPr/>
          <p:nvPr/>
        </p:nvSpPr>
        <p:spPr>
          <a:xfrm>
            <a:off x="20235600" y="12996000"/>
            <a:ext cx="9478800" cy="36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7F7"/>
            </a:solidFill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82" name="Section Accent - Contact Information"/>
          <p:cNvSpPr/>
          <p:nvPr/>
        </p:nvSpPr>
        <p:spPr>
          <a:xfrm>
            <a:off x="20235600" y="12996000"/>
            <a:ext cx="100800" cy="3600000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83" name="Icon - 09"/>
          <p:cNvSpPr/>
          <p:nvPr/>
        </p:nvSpPr>
        <p:spPr>
          <a:xfrm>
            <a:off x="20494800" y="13204800"/>
            <a:ext cx="522000" cy="522000"/>
          </a:xfrm>
          <a:prstGeom prst="roundRect">
            <a:avLst/>
          </a:prstGeom>
          <a:solidFill>
            <a:srgbClr val="173B67"/>
          </a:solidFill>
          <a:ln>
            <a:noFill/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09</a:t>
            </a:r>
            <a:endParaRPr lang="en-US" sz="1800"/>
          </a:p>
        </p:txBody>
      </p:sp>
      <p:sp>
        <p:nvSpPr>
          <p:cNvPr id="84" name="Section Title - Contact Information"/>
          <p:cNvSpPr/>
          <p:nvPr/>
        </p:nvSpPr>
        <p:spPr>
          <a:xfrm>
            <a:off x="21117600" y="13194000"/>
            <a:ext cx="83988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700" b="1">
                <a:solidFill>
                  <a:srgbClr val="173B67"/>
                </a:solidFill>
                <a:latin typeface="Aptos"/>
                <a:cs typeface="Aptos"/>
              </a:rPr>
              <a:t>Contact Information</a:t>
            </a:r>
            <a:endParaRPr lang="en-US" sz="1700"/>
          </a:p>
        </p:txBody>
      </p:sp>
      <p:sp>
        <p:nvSpPr>
          <p:cNvPr id="77" name="Repo Label"/>
          <p:cNvSpPr/>
          <p:nvPr/>
        </p:nvSpPr>
        <p:spPr>
          <a:xfrm>
            <a:off x="20559600" y="14058000"/>
            <a:ext cx="3960000" cy="396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200" b="1">
                <a:solidFill>
                  <a:srgbClr val="173B67"/>
                </a:solidFill>
                <a:latin typeface="Aptos"/>
                <a:cs typeface="Aptos"/>
              </a:rPr>
              <a:t>GitHub Repository:</a:t>
            </a:r>
            <a:endParaRPr lang="en-US" sz="1200"/>
          </a:p>
        </p:txBody>
      </p:sp>
      <p:sp>
        <p:nvSpPr>
          <p:cNvPr id="78" name="Repo URL Placeholder"/>
          <p:cNvSpPr/>
          <p:nvPr/>
        </p:nvSpPr>
        <p:spPr>
          <a:xfrm>
            <a:off x="20559600" y="14526000"/>
            <a:ext cx="4536000" cy="468000"/>
          </a:xfrm>
          <a:prstGeom prst="roundRect">
            <a:avLst/>
          </a:prstGeom>
          <a:solidFill>
            <a:srgbClr val="F6FAFE"/>
          </a:solidFill>
          <a:ln w="10160">
            <a:solidFill>
              <a:srgbClr val="DCE7F7"/>
            </a:solidFill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050">
                <a:solidFill>
                  <a:srgbClr val="637083"/>
                </a:solidFill>
                <a:latin typeface="Aptos"/>
                <a:cs typeface="Aptos"/>
              </a:rPr>
              <a:t>[ADD REPOSITORY URL]</a:t>
            </a:r>
            <a:endParaRPr lang="en-US" sz="1050"/>
          </a:p>
        </p:txBody>
      </p:sp>
      <p:sp>
        <p:nvSpPr>
          <p:cNvPr id="79" name="QR Code Placeholder"/>
          <p:cNvSpPr/>
          <p:nvPr/>
        </p:nvSpPr>
        <p:spPr>
          <a:xfrm>
            <a:off x="25779600" y="13986000"/>
            <a:ext cx="2700000" cy="2700000"/>
          </a:xfrm>
          <a:prstGeom prst="rect">
            <a:avLst/>
          </a:prstGeom>
          <a:solidFill>
            <a:srgbClr val="FFFFFF"/>
          </a:solidFill>
          <a:ln w="13970">
            <a:solidFill>
              <a:srgbClr val="173B67"/>
            </a:solidFill>
          </a:ln>
        </p:spPr>
        <p:txBody>
          <a:bodyPr wrap="square" anchor="mid" lIns="91440" tIns="60960" rIns="91440" bIns="60960"/>
          <a:lstStyle/>
          <a:p>
            <a:pPr algn="ctr"/>
            <a:r>
              <a:rPr lang="en-US" sz="1400" b="1">
                <a:solidFill>
                  <a:srgbClr val="173B67"/>
                </a:solidFill>
                <a:latin typeface="Aptos"/>
                <a:cs typeface="Aptos"/>
              </a:rPr>
              <a:t>QR</a:t>
            </a:r>
            <a:endParaRPr lang="en-US" sz="1400"/>
          </a:p>
          <a:p>
            <a:pPr algn="ctr"/>
            <a:r>
              <a:rPr lang="en-US" sz="1400">
                <a:solidFill>
                  <a:srgbClr val="173B67"/>
                </a:solidFill>
                <a:latin typeface="Aptos"/>
                <a:cs typeface="Aptos"/>
              </a:rPr>
              <a:t>Code</a:t>
            </a:r>
            <a:endParaRPr lang="en-US" sz="1400"/>
          </a:p>
          <a:p>
            <a:pPr algn="ctr"/>
            <a:r>
              <a:rPr lang="en-US" sz="1400">
                <a:solidFill>
                  <a:srgbClr val="173B67"/>
                </a:solidFill>
                <a:latin typeface="Aptos"/>
                <a:cs typeface="Aptos"/>
              </a:rPr>
              <a:t>Placeholder</a:t>
            </a:r>
            <a:endParaRPr lang="en-US" sz="1400"/>
          </a:p>
        </p:txBody>
      </p:sp>
      <p:sp>
        <p:nvSpPr>
          <p:cNvPr id="80" name="Contact details"/>
          <p:cNvSpPr/>
          <p:nvPr/>
        </p:nvSpPr>
        <p:spPr>
          <a:xfrm>
            <a:off x="20559600" y="15228000"/>
            <a:ext cx="4536000" cy="828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1050" b="1">
                <a:solidFill>
                  <a:srgbClr val="233142"/>
                </a:solidFill>
                <a:latin typeface="Aptos"/>
                <a:cs typeface="Aptos"/>
              </a:rPr>
              <a:t>Contact Information</a:t>
            </a:r>
            <a:endParaRPr lang="en-US" sz="1050"/>
          </a:p>
          <a:p>
            <a:pPr algn="l"/>
            <a:r>
              <a:rPr lang="en-US" sz="1050">
                <a:solidFill>
                  <a:srgbClr val="233142"/>
                </a:solidFill>
                <a:latin typeface="Aptos"/>
                <a:cs typeface="Aptos"/>
              </a:rPr>
              <a:t>Email: [ADD EMAIL]</a:t>
            </a:r>
            <a:endParaRPr lang="en-US" sz="1050"/>
          </a:p>
          <a:p>
            <a:pPr algn="l"/>
            <a:r>
              <a:rPr lang="en-US" sz="1050">
                <a:solidFill>
                  <a:srgbClr val="233142"/>
                </a:solidFill>
                <a:latin typeface="Aptos"/>
                <a:cs typeface="Aptos"/>
              </a:rPr>
              <a:t>Supervisor: [ADD NAME]</a:t>
            </a:r>
            <a:endParaRPr lang="en-US" sz="1050"/>
          </a:p>
        </p:txBody>
      </p:sp>
      <p:sp>
        <p:nvSpPr>
          <p:cNvPr id="85" name="Footer Rule"/>
          <p:cNvSpPr/>
          <p:nvPr/>
        </p:nvSpPr>
        <p:spPr>
          <a:xfrm>
            <a:off x="558000" y="20106000"/>
            <a:ext cx="29160000" cy="28800"/>
          </a:xfrm>
          <a:prstGeom prst="rect">
            <a:avLst/>
          </a:prstGeom>
          <a:solidFill>
            <a:srgbClr val="DCE7F7"/>
          </a:solidFill>
          <a:ln>
            <a:noFill/>
          </a:ln>
        </p:spPr>
        <p:txBody>
          <a:bodyPr wrap="square" anchor="t" lIns="91440" tIns="60960" rIns="91440" bIns="60960"/>
          <a:lstStyle/>
          <a:p/>
        </p:txBody>
      </p:sp>
      <p:sp>
        <p:nvSpPr>
          <p:cNvPr id="86" name="Poster Specs"/>
          <p:cNvSpPr/>
          <p:nvPr/>
        </p:nvSpPr>
        <p:spPr>
          <a:xfrm>
            <a:off x="648000" y="20376000"/>
            <a:ext cx="12600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l"/>
            <a:r>
              <a:rPr lang="en-US" sz="950">
                <a:solidFill>
                  <a:srgbClr val="637083"/>
                </a:solidFill>
                <a:latin typeface="Aptos"/>
                <a:cs typeface="Aptos"/>
              </a:rPr>
              <a:t>A1 landscape poster: 84.1 x 59.4 cm | Print-ready editable PowerPoint layout</a:t>
            </a:r>
            <a:endParaRPr lang="en-US" sz="950"/>
          </a:p>
        </p:txBody>
      </p:sp>
      <p:sp>
        <p:nvSpPr>
          <p:cNvPr id="87" name="Palette"/>
          <p:cNvSpPr/>
          <p:nvPr/>
        </p:nvSpPr>
        <p:spPr>
          <a:xfrm>
            <a:off x="17568000" y="20376000"/>
            <a:ext cx="11880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60960" rIns="91440" bIns="60960"/>
          <a:lstStyle/>
          <a:p>
            <a:pPr algn="r"/>
            <a:r>
              <a:rPr lang="en-US" sz="950">
                <a:solidFill>
                  <a:srgbClr val="637083"/>
                </a:solidFill>
                <a:latin typeface="Aptos"/>
                <a:cs typeface="Aptos"/>
              </a:rPr>
              <a:t>Palette: Dark Blue #173B67 | Turquoise #22B8CF | Soft Purple #8B7DDA | White #FFFFFF</a:t>
            </a:r>
            <a:endParaRPr lang="en-US" sz="95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A1 Landscape</PresentationFormat>
  <Slides>1</Slides>
  <Company>MeDay Smart Platform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MeDay Smart Platform A1 Academic Poster</dc:title>
  <dc:subject>Graduation project poster</dc:subject>
  <dc:creator>Codex</dc:creator>
  <cp:keywords>MeDay, AI, FastAPI, React, academic poster</cp:keywords>
  <dcterms:created xsi:type="dcterms:W3CDTF">2026-06-26T20:23:02Z</dcterms:created>
  <dcterms:modified xsi:type="dcterms:W3CDTF">2026-06-26T20:23:02Z</dcterms:modified>
</cp:coreProperties>
</file>